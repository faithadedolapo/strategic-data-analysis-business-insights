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8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0112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3223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566160"/>
            <a:ext cx="566928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365760"/>
            <a:ext cx="2286000" cy="2286000"/>
          </a:xfrm>
          <a:prstGeom prst="ellipse">
            <a:avLst/>
          </a:prstGeom>
          <a:solidFill>
            <a:srgbClr val="0E7C7B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132320" y="1280160"/>
            <a:ext cx="1645920" cy="1645920"/>
          </a:xfrm>
          <a:prstGeom prst="ellipse">
            <a:avLst/>
          </a:prstGeom>
          <a:solidFill>
            <a:srgbClr val="F59E0B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384048"/>
            <a:ext cx="1828800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38404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 dirty="0">
                <a:solidFill>
                  <a:srgbClr val="0D1B2A"/>
                </a:solidFill>
              </a:rPr>
              <a:t>TS ACADEMY| POWER BI CAPSTONE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Performance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11480" y="2806005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Capstone Project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739896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</a:rPr>
              <a:t>Data-driven insights across brands, colors, regions, and customer segments to support strategic business decisions.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46634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Analyst: Faith Olayiwola  |  Tool: Excel, Power BI , PowerPoint Presentation|  Period: Q1 2024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852160" y="5029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Key Metrics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1005840"/>
            <a:ext cx="2880360" cy="713232"/>
          </a:xfrm>
          <a:prstGeom prst="rect">
            <a:avLst/>
          </a:prstGeom>
          <a:solidFill>
            <a:srgbClr val="1A2E4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0" y="1005840"/>
            <a:ext cx="64008" cy="71323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1078992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223760" y="122529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Total Sales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1920240"/>
            <a:ext cx="2880360" cy="713232"/>
          </a:xfrm>
          <a:prstGeom prst="rect">
            <a:avLst/>
          </a:prstGeom>
          <a:solidFill>
            <a:srgbClr val="1A2E40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0" y="1920240"/>
            <a:ext cx="64008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6080760" y="1993392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932K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223760" y="213969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Total Profit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0" y="2834640"/>
            <a:ext cx="2880360" cy="713232"/>
          </a:xfrm>
          <a:prstGeom prst="rect">
            <a:avLst/>
          </a:prstGeom>
          <a:solidFill>
            <a:srgbClr val="1A2E40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0" y="2834640"/>
            <a:ext cx="64008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080760" y="2907792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223760" y="305409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Profit Margin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3749040"/>
            <a:ext cx="2880360" cy="713232"/>
          </a:xfrm>
          <a:prstGeom prst="rect">
            <a:avLst/>
          </a:prstGeom>
          <a:solidFill>
            <a:srgbClr val="1A2E40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0" y="3749040"/>
            <a:ext cx="64008" cy="7132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6080760" y="3822192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5.2K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223760" y="396849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Customers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Overview — Key Performance Indicators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1170432"/>
            <a:ext cx="1993392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70432"/>
            <a:ext cx="1993392" cy="6400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1298448"/>
            <a:ext cx="621792" cy="621792"/>
          </a:xfrm>
          <a:prstGeom prst="ellipse">
            <a:avLst/>
          </a:prstGeom>
          <a:solidFill>
            <a:srgbClr val="0E7C7B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371600"/>
            <a:ext cx="19933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₦3M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7472" y="192024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Total Sales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221284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Gross revenue Q1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0" y="1170432"/>
            <a:ext cx="1993392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170432"/>
            <a:ext cx="1993392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Shape 11"/>
          <p:cNvSpPr/>
          <p:nvPr/>
        </p:nvSpPr>
        <p:spPr>
          <a:xfrm>
            <a:off x="3246120" y="1298448"/>
            <a:ext cx="621792" cy="621792"/>
          </a:xfrm>
          <a:prstGeom prst="ellipse">
            <a:avLst/>
          </a:prstGeom>
          <a:solidFill>
            <a:srgbClr val="DC2626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371600"/>
            <a:ext cx="19933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₦2M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560320" y="192024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Total COGS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221284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Cost of goods sold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73168" y="1170432"/>
            <a:ext cx="1993392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73168" y="1170432"/>
            <a:ext cx="1993392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Shape 17"/>
          <p:cNvSpPr/>
          <p:nvPr/>
        </p:nvSpPr>
        <p:spPr>
          <a:xfrm>
            <a:off x="5458968" y="1298448"/>
            <a:ext cx="621792" cy="621792"/>
          </a:xfrm>
          <a:prstGeom prst="ellipse">
            <a:avLst/>
          </a:prstGeom>
          <a:solidFill>
            <a:srgbClr val="059669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773168" y="1371600"/>
            <a:ext cx="19933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₦932K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773168" y="192024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Total Profit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73168" y="221284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Net profitability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86016" y="1170432"/>
            <a:ext cx="1993392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86016" y="1170432"/>
            <a:ext cx="1993392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Shape 23"/>
          <p:cNvSpPr/>
          <p:nvPr/>
        </p:nvSpPr>
        <p:spPr>
          <a:xfrm>
            <a:off x="7671816" y="1298448"/>
            <a:ext cx="621792" cy="621792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986016" y="1371600"/>
            <a:ext cx="19933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5,200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986016" y="192024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Total Customers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86016" y="221284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Active customer base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7472" y="27432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Dashboard Insight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47472" y="3127248"/>
            <a:ext cx="8449056" cy="12618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1" name="Shape 29"/>
          <p:cNvSpPr/>
          <p:nvPr/>
        </p:nvSpPr>
        <p:spPr>
          <a:xfrm>
            <a:off x="347472" y="3127248"/>
            <a:ext cx="73152" cy="126187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2" name="Text 30"/>
          <p:cNvSpPr/>
          <p:nvPr/>
        </p:nvSpPr>
        <p:spPr>
          <a:xfrm>
            <a:off x="530353" y="3218688"/>
            <a:ext cx="667054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generated ₦3 million in sales, delivering ₦932K in profit. This indicates a healthy but optimizable margin structure of approximately 31%. With a customer base of 5,200, the revenue-per-customer ratio reflects strong market penetration. Cost control appears moderately efficient, leaving meaningful room for margin improvement through targeted optimization.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309184" y="3127248"/>
            <a:ext cx="1487344" cy="12618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0" y="3246120"/>
            <a:ext cx="16642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31%</a:t>
            </a:r>
            <a:endParaRPr lang="en-US" sz="3800" dirty="0"/>
          </a:p>
        </p:txBody>
      </p:sp>
      <p:sp>
        <p:nvSpPr>
          <p:cNvPr id="35" name="Text 33"/>
          <p:cNvSpPr/>
          <p:nvPr/>
        </p:nvSpPr>
        <p:spPr>
          <a:xfrm>
            <a:off x="7132320" y="3913632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Profit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Margin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 by Brand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Identifying top-performing brands and their contribution to overall profitability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38988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Apple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481328" y="1481328"/>
            <a:ext cx="5029200" cy="256032"/>
          </a:xfrm>
          <a:prstGeom prst="rect">
            <a:avLst/>
          </a:prstGeom>
          <a:solidFill>
            <a:srgbClr val="1E3A4A"/>
          </a:solidFill>
          <a:ln/>
        </p:spPr>
      </p:sp>
      <p:sp>
        <p:nvSpPr>
          <p:cNvPr id="7" name="Shape 5"/>
          <p:cNvSpPr/>
          <p:nvPr/>
        </p:nvSpPr>
        <p:spPr>
          <a:xfrm>
            <a:off x="1481328" y="1481328"/>
            <a:ext cx="4274820" cy="25603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6601968" y="1389888"/>
            <a:ext cx="685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</a:rPr>
              <a:t>0.85M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33488" y="1389888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Apple leads in profitability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98424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Dell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481328" y="2075688"/>
            <a:ext cx="5029200" cy="256032"/>
          </a:xfrm>
          <a:prstGeom prst="rect">
            <a:avLst/>
          </a:prstGeom>
          <a:solidFill>
            <a:srgbClr val="1E3A4A"/>
          </a:solidFill>
          <a:ln/>
        </p:spPr>
      </p:sp>
      <p:sp>
        <p:nvSpPr>
          <p:cNvPr id="12" name="Shape 10"/>
          <p:cNvSpPr/>
          <p:nvPr/>
        </p:nvSpPr>
        <p:spPr>
          <a:xfrm>
            <a:off x="1481328" y="2075688"/>
            <a:ext cx="3621024" cy="2560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6601968" y="1984248"/>
            <a:ext cx="685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0.72M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33488" y="1984248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Strong mid-range performer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257860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481328" y="2670048"/>
            <a:ext cx="5029200" cy="256032"/>
          </a:xfrm>
          <a:prstGeom prst="rect">
            <a:avLst/>
          </a:prstGeom>
          <a:solidFill>
            <a:srgbClr val="1E3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1481328" y="2670048"/>
            <a:ext cx="326898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601968" y="2578608"/>
            <a:ext cx="685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0.65M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33488" y="2578608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Consistent revenue driver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317296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Samsung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481328" y="3264408"/>
            <a:ext cx="5029200" cy="256032"/>
          </a:xfrm>
          <a:prstGeom prst="rect">
            <a:avLst/>
          </a:prstGeom>
          <a:solidFill>
            <a:srgbClr val="1E3A4A"/>
          </a:solidFill>
          <a:ln/>
        </p:spPr>
      </p:sp>
      <p:sp>
        <p:nvSpPr>
          <p:cNvPr id="22" name="Shape 20"/>
          <p:cNvSpPr/>
          <p:nvPr/>
        </p:nvSpPr>
        <p:spPr>
          <a:xfrm>
            <a:off x="1481328" y="3264408"/>
            <a:ext cx="2916936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601968" y="3172968"/>
            <a:ext cx="685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0.58M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33488" y="3172968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Growing contribution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376732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Lenovo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481328" y="3858768"/>
            <a:ext cx="5029200" cy="256032"/>
          </a:xfrm>
          <a:prstGeom prst="rect">
            <a:avLst/>
          </a:prstGeom>
          <a:solidFill>
            <a:srgbClr val="1E3A4A"/>
          </a:solidFill>
          <a:ln/>
        </p:spPr>
      </p:sp>
      <p:sp>
        <p:nvSpPr>
          <p:cNvPr id="27" name="Shape 25"/>
          <p:cNvSpPr/>
          <p:nvPr/>
        </p:nvSpPr>
        <p:spPr>
          <a:xfrm>
            <a:off x="1481328" y="3858768"/>
            <a:ext cx="2414016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6601968" y="3767328"/>
            <a:ext cx="685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</a:rPr>
              <a:t>0.48M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33488" y="3767328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Stable but lower margin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436168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Asus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481328" y="4453128"/>
            <a:ext cx="5029200" cy="256032"/>
          </a:xfrm>
          <a:prstGeom prst="rect">
            <a:avLst/>
          </a:prstGeom>
          <a:solidFill>
            <a:srgbClr val="1E3A4A"/>
          </a:solidFill>
          <a:ln/>
        </p:spPr>
      </p:sp>
      <p:sp>
        <p:nvSpPr>
          <p:cNvPr id="32" name="Shape 30"/>
          <p:cNvSpPr/>
          <p:nvPr/>
        </p:nvSpPr>
        <p:spPr>
          <a:xfrm>
            <a:off x="1481328" y="4453128"/>
            <a:ext cx="176022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6601968" y="4361688"/>
            <a:ext cx="685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0.35M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33488" y="4361688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Opportunity for growth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38912" y="4854982"/>
            <a:ext cx="8412480" cy="2560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NG" dirty="0"/>
          </a:p>
        </p:txBody>
      </p:sp>
      <p:sp>
        <p:nvSpPr>
          <p:cNvPr id="36" name="Text 34"/>
          <p:cNvSpPr/>
          <p:nvPr/>
        </p:nvSpPr>
        <p:spPr>
          <a:xfrm>
            <a:off x="438912" y="4640339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b="1" dirty="0">
              <a:solidFill>
                <a:srgbClr val="0D1B2A"/>
              </a:solidFill>
            </a:endParaRPr>
          </a:p>
          <a:p>
            <a:pPr marL="0" indent="0">
              <a:buNone/>
            </a:pPr>
            <a:endParaRPr lang="en-US" sz="1000" b="1" dirty="0">
              <a:solidFill>
                <a:srgbClr val="0D1B2A"/>
              </a:solidFill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Insight: Profit is unevenly distributed across brands — top performers (Apple, Dell) drive a disproportionate share of total profit.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by Product Color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2606040" cy="31546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7552" y="1371600"/>
            <a:ext cx="1554480" cy="155448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01752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</a:rPr>
              <a:t>Black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419856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₦3M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97280" y="3858768"/>
            <a:ext cx="1325880" cy="292608"/>
          </a:xfrm>
          <a:prstGeom prst="rect">
            <a:avLst/>
          </a:prstGeom>
          <a:solidFill>
            <a:srgbClr val="0E7C7B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85876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C7B"/>
                </a:solidFill>
              </a:rPr>
              <a:t>33.33% of Total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37560" y="1170432"/>
            <a:ext cx="2606040" cy="31546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67912" y="1371600"/>
            <a:ext cx="1554480" cy="155448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8B8F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301752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</a:rPr>
              <a:t>Gray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37560" y="3419856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₦3M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977640" y="3858768"/>
            <a:ext cx="1325880" cy="292608"/>
          </a:xfrm>
          <a:prstGeom prst="rect">
            <a:avLst/>
          </a:prstGeom>
          <a:solidFill>
            <a:srgbClr val="0E7C7B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977640" y="385876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C7B"/>
                </a:solidFill>
              </a:rPr>
              <a:t>33.33% of Total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1170432"/>
            <a:ext cx="2606040" cy="31546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48272" y="1371600"/>
            <a:ext cx="1554480" cy="155448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01752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</a:rPr>
              <a:t>White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0" y="3419856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₦3M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858000" y="3858768"/>
            <a:ext cx="1325880" cy="292608"/>
          </a:xfrm>
          <a:prstGeom prst="rect">
            <a:avLst/>
          </a:prstGeom>
          <a:solidFill>
            <a:srgbClr val="0E7C7B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385876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C7B"/>
                </a:solidFill>
              </a:rPr>
              <a:t>33.33% of Total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" y="4407408"/>
            <a:ext cx="841248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4" name="Shape 22"/>
          <p:cNvSpPr/>
          <p:nvPr/>
        </p:nvSpPr>
        <p:spPr>
          <a:xfrm>
            <a:off x="347472" y="4407408"/>
            <a:ext cx="73152" cy="5943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" y="4462272"/>
            <a:ext cx="81838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94A3B8"/>
                </a:solidFill>
              </a:rPr>
              <a:t>Insight: Revenue is perfectly balanced across all three product colors (33.33% each), indicating no consumer preference dominance. This signals strong product-market fit, consistent demand across variants, and eliminates the need for inventory bias toward any single color.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by Month — Q1 Trend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Tracking sales momentum across January, February, and March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029200" cy="2743200"/>
          </a:xfrm>
          <a:prstGeom prst="rect">
            <a:avLst/>
          </a:prstGeom>
          <a:solidFill>
            <a:srgbClr val="111E2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474720"/>
            <a:ext cx="5029200" cy="0"/>
          </a:xfrm>
          <a:prstGeom prst="line">
            <a:avLst/>
          </a:prstGeom>
          <a:noFill/>
          <a:ln w="6350">
            <a:solidFill>
              <a:srgbClr val="1E3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788920"/>
            <a:ext cx="5029200" cy="0"/>
          </a:xfrm>
          <a:prstGeom prst="line">
            <a:avLst/>
          </a:prstGeom>
          <a:noFill/>
          <a:ln w="6350">
            <a:solidFill>
              <a:srgbClr val="1E3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03120"/>
            <a:ext cx="5029200" cy="0"/>
          </a:xfrm>
          <a:prstGeom prst="line">
            <a:avLst/>
          </a:prstGeom>
          <a:noFill/>
          <a:ln w="6350">
            <a:solidFill>
              <a:srgbClr val="1E3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5029200" cy="0"/>
          </a:xfrm>
          <a:prstGeom prst="line">
            <a:avLst/>
          </a:prstGeom>
          <a:noFill/>
          <a:ln w="6350">
            <a:solidFill>
              <a:srgbClr val="1E3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474720"/>
            <a:ext cx="914400" cy="6858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2724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7B"/>
                </a:solidFill>
              </a:rPr>
              <a:t>₦1,030K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23367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January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68880" y="2788920"/>
            <a:ext cx="914400" cy="13716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244144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</a:rPr>
              <a:t>₦1,040K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423367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February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23360" y="2103120"/>
            <a:ext cx="914400" cy="2057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4023360" y="175564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</a:rPr>
              <a:t>₦1,050K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23360" y="423367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March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143000" y="2971800"/>
            <a:ext cx="32004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3474720" y="2423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▲ Upward Trend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0" y="1417320"/>
            <a:ext cx="3154680" cy="2743200"/>
          </a:xfrm>
          <a:prstGeom prst="rect">
            <a:avLst/>
          </a:prstGeom>
          <a:solidFill>
            <a:srgbClr val="132236"/>
          </a:solidFill>
          <a:ln/>
        </p:spPr>
      </p:sp>
      <p:sp>
        <p:nvSpPr>
          <p:cNvPr id="22" name="Text 20"/>
          <p:cNvSpPr/>
          <p:nvPr/>
        </p:nvSpPr>
        <p:spPr>
          <a:xfrm>
            <a:off x="5806440" y="1554480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</a:rPr>
              <a:t>Trend Analysis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806440" y="2011680"/>
            <a:ext cx="2880360" cy="502920"/>
          </a:xfrm>
          <a:prstGeom prst="rect">
            <a:avLst/>
          </a:prstGeom>
          <a:solidFill>
            <a:srgbClr val="1A2E40"/>
          </a:solidFill>
          <a:ln/>
        </p:spPr>
      </p:sp>
      <p:sp>
        <p:nvSpPr>
          <p:cNvPr id="24" name="Text 22"/>
          <p:cNvSpPr/>
          <p:nvPr/>
        </p:nvSpPr>
        <p:spPr>
          <a:xfrm>
            <a:off x="5897880" y="208483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+₦10K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66560" y="21305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Jan → Feb growth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06440" y="2633472"/>
            <a:ext cx="2880360" cy="502920"/>
          </a:xfrm>
          <a:prstGeom prst="rect">
            <a:avLst/>
          </a:prstGeom>
          <a:solidFill>
            <a:srgbClr val="1A2E40"/>
          </a:solidFill>
          <a:ln/>
        </p:spPr>
      </p:sp>
      <p:sp>
        <p:nvSpPr>
          <p:cNvPr id="27" name="Text 25"/>
          <p:cNvSpPr/>
          <p:nvPr/>
        </p:nvSpPr>
        <p:spPr>
          <a:xfrm>
            <a:off x="5897880" y="2706624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+₦10K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66560" y="27523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Feb → Mar growth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06440" y="3255264"/>
            <a:ext cx="2880360" cy="502920"/>
          </a:xfrm>
          <a:prstGeom prst="rect">
            <a:avLst/>
          </a:prstGeom>
          <a:solidFill>
            <a:srgbClr val="1A2E40"/>
          </a:solidFill>
          <a:ln/>
        </p:spPr>
      </p:sp>
      <p:sp>
        <p:nvSpPr>
          <p:cNvPr id="30" name="Text 28"/>
          <p:cNvSpPr/>
          <p:nvPr/>
        </p:nvSpPr>
        <p:spPr>
          <a:xfrm>
            <a:off x="5897880" y="3328416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+₦20K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66560" y="33741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Total Q1 uplift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06440" y="384048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00" i="1" dirty="0">
                <a:solidFill>
                  <a:srgbClr val="94A3B8"/>
                </a:solidFill>
              </a:rPr>
              <a:t>Revenue demonstrates steady upward momentum across Q1, likely driven by marketing impact or seasonal demand patterns.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7472" y="4663440"/>
            <a:ext cx="841248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438912" y="468172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Insight: Positive Q1 momentum — revenue grew steadily each month, suggesting improving sales performance and potential for strong Q2 results.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Income Level by Profit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265176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70432"/>
            <a:ext cx="2651760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70432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HIGH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8720" y="1828800"/>
            <a:ext cx="1005840" cy="1417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2087118"/>
            <a:ext cx="1005840" cy="120472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3649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~₦500K+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05840" y="3749040"/>
            <a:ext cx="1371600" cy="256032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7490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~54% of Total Profit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4096512"/>
            <a:ext cx="24323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Premium customers driving majority profit. Target with loyalty &amp; upsell strategies.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91840" y="1170432"/>
            <a:ext cx="265176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170432"/>
            <a:ext cx="2651760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170432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MEDIUM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114800" y="1828800"/>
            <a:ext cx="1005840" cy="1417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Shape 16"/>
          <p:cNvSpPr/>
          <p:nvPr/>
        </p:nvSpPr>
        <p:spPr>
          <a:xfrm>
            <a:off x="4114800" y="2512314"/>
            <a:ext cx="1005840" cy="77952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33649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~₦280K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931920" y="3749040"/>
            <a:ext cx="1371600" cy="256032"/>
          </a:xfrm>
          <a:prstGeom prst="rect">
            <a:avLst/>
          </a:prstGeom>
          <a:solidFill>
            <a:srgbClr val="0E7C7B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0" y="37490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C7B"/>
                </a:solidFill>
              </a:rPr>
              <a:t>~30% of Total Profit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01568" y="4096512"/>
            <a:ext cx="24323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Steady mid-market contributors. Growth potential through targeted offers.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17920" y="1170432"/>
            <a:ext cx="265176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1170432"/>
            <a:ext cx="2651760" cy="56692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1170432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LOW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40880" y="1828800"/>
            <a:ext cx="1005840" cy="1417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Shape 25"/>
          <p:cNvSpPr/>
          <p:nvPr/>
        </p:nvSpPr>
        <p:spPr>
          <a:xfrm>
            <a:off x="7040880" y="2866644"/>
            <a:ext cx="1005840" cy="42519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33649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~₦150K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858000" y="3749040"/>
            <a:ext cx="1371600" cy="256032"/>
          </a:xfrm>
          <a:prstGeom prst="rect">
            <a:avLst/>
          </a:prstGeom>
          <a:solidFill>
            <a:srgbClr val="475569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37490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</a:rPr>
              <a:t>~16% of Total Profit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27648" y="4096512"/>
            <a:ext cx="24323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Smaller but stable base. Consider value-tier products to drive volume.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7472" y="4754880"/>
            <a:ext cx="8412480" cy="274320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38912" y="4773168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Insight: High-income customers contribute disproportionately (~54%) to total profit, confirming premium market strength and upselling opportunity.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&amp; Gender Segmentation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Interactive filters enabling targeted strategy by region and customer gender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Regional Analysis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75564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East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261872" y="1883664"/>
            <a:ext cx="3474720" cy="237744"/>
          </a:xfrm>
          <a:prstGeom prst="rect">
            <a:avLst/>
          </a:prstGeom>
          <a:solidFill>
            <a:srgbClr val="1E3A4A"/>
          </a:solidFill>
          <a:ln/>
        </p:spPr>
      </p:sp>
      <p:sp>
        <p:nvSpPr>
          <p:cNvPr id="8" name="Shape 6"/>
          <p:cNvSpPr/>
          <p:nvPr/>
        </p:nvSpPr>
        <p:spPr>
          <a:xfrm>
            <a:off x="1261872" y="1883664"/>
            <a:ext cx="2849270" cy="23774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9" name="Text 7"/>
          <p:cNvSpPr/>
          <p:nvPr/>
        </p:nvSpPr>
        <p:spPr>
          <a:xfrm>
            <a:off x="4828032" y="17556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Highest revenue region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414016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North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261872" y="2542032"/>
            <a:ext cx="3474720" cy="237744"/>
          </a:xfrm>
          <a:prstGeom prst="rect">
            <a:avLst/>
          </a:prstGeom>
          <a:solidFill>
            <a:srgbClr val="1E3A4A"/>
          </a:solidFill>
          <a:ln/>
        </p:spPr>
      </p:sp>
      <p:sp>
        <p:nvSpPr>
          <p:cNvPr id="12" name="Shape 10"/>
          <p:cNvSpPr/>
          <p:nvPr/>
        </p:nvSpPr>
        <p:spPr>
          <a:xfrm>
            <a:off x="1261872" y="2542032"/>
            <a:ext cx="2258568" cy="23774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241401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Strong secondary market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072384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South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261872" y="3200400"/>
            <a:ext cx="3474720" cy="237744"/>
          </a:xfrm>
          <a:prstGeom prst="rect">
            <a:avLst/>
          </a:prstGeom>
          <a:solidFill>
            <a:srgbClr val="1E3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1261872" y="3200400"/>
            <a:ext cx="2501798" cy="237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828032" y="307238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Growing performance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730752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West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261872" y="3858768"/>
            <a:ext cx="3474720" cy="237744"/>
          </a:xfrm>
          <a:prstGeom prst="rect">
            <a:avLst/>
          </a:prstGeom>
          <a:solidFill>
            <a:srgbClr val="1E3A4A"/>
          </a:solidFill>
          <a:ln/>
        </p:spPr>
      </p:sp>
      <p:sp>
        <p:nvSpPr>
          <p:cNvPr id="20" name="Shape 18"/>
          <p:cNvSpPr/>
          <p:nvPr/>
        </p:nvSpPr>
        <p:spPr>
          <a:xfrm>
            <a:off x="1261872" y="3858768"/>
            <a:ext cx="1911096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828032" y="373075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Expansion opportunity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0" y="132588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Gender Breakdown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40780" y="1746505"/>
            <a:ext cx="1243825" cy="2112264"/>
          </a:xfrm>
          <a:prstGeom prst="rect">
            <a:avLst/>
          </a:prstGeom>
          <a:solidFill>
            <a:srgbClr val="132236"/>
          </a:solidFill>
          <a:ln/>
        </p:spPr>
      </p:sp>
      <p:sp>
        <p:nvSpPr>
          <p:cNvPr id="24" name="Shape 22"/>
          <p:cNvSpPr/>
          <p:nvPr/>
        </p:nvSpPr>
        <p:spPr>
          <a:xfrm>
            <a:off x="6469859" y="1809309"/>
            <a:ext cx="822960" cy="82296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335344" y="2773760"/>
            <a:ext cx="109198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52%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133460" y="324924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Female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591925" y="1755648"/>
            <a:ext cx="1243825" cy="2103120"/>
          </a:xfrm>
          <a:prstGeom prst="rect">
            <a:avLst/>
          </a:prstGeom>
          <a:solidFill>
            <a:srgbClr val="132236"/>
          </a:solidFill>
          <a:ln/>
        </p:spPr>
      </p:sp>
      <p:sp>
        <p:nvSpPr>
          <p:cNvPr id="28" name="Shape 26"/>
          <p:cNvSpPr/>
          <p:nvPr/>
        </p:nvSpPr>
        <p:spPr>
          <a:xfrm>
            <a:off x="7778416" y="1792224"/>
            <a:ext cx="822960" cy="822960"/>
          </a:xfrm>
          <a:prstGeom prst="ellipse">
            <a:avLst/>
          </a:prstGeom>
          <a:solidFill>
            <a:srgbClr val="1565C0">
              <a:alpha val="3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691548" y="2743200"/>
            <a:ext cx="109487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48%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691548" y="3310128"/>
            <a:ext cx="10948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Male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4183140"/>
            <a:ext cx="8412480" cy="835232"/>
          </a:xfrm>
          <a:prstGeom prst="rect">
            <a:avLst/>
          </a:prstGeom>
          <a:solidFill>
            <a:srgbClr val="132236"/>
          </a:solidFill>
          <a:ln/>
        </p:spPr>
      </p:sp>
      <p:sp>
        <p:nvSpPr>
          <p:cNvPr id="32" name="Text 30"/>
          <p:cNvSpPr/>
          <p:nvPr/>
        </p:nvSpPr>
        <p:spPr>
          <a:xfrm>
            <a:off x="546474" y="4289017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Strategic Application of Segmentation: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4539515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Regional filters identify the East as the strongest market, enabling targeted investment. Gender data supports personalized marketing campaigns — slight female majority (52%) can inform product messaging, packaging, and promotional strategy.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Business Insights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170432"/>
            <a:ext cx="416052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70432"/>
            <a:ext cx="64008" cy="107899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" y="124358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2618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Strong Overall Profitability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12064" y="167335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 31% profit margin (₦932K on ₦3M revenue) reflects a healthy business foundation with clear room for further margin optimization.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170432"/>
            <a:ext cx="416052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70432"/>
            <a:ext cx="64008" cy="107899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4919472" y="124358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13248" y="12618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Brand Concentration Risk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19472" y="167335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Profit distribution is uneven across brands. Top-performing brands (Apple, Dell) drive a disproportionate share, creating both strength and concentration risk.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2404872"/>
            <a:ext cx="416052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" y="2404872"/>
            <a:ext cx="64008" cy="107899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" y="247802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49631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Balanced Color Revenue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12064" y="290779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Perfect revenue parity across Black, Gray, and White (33.33% each) signals consistent product-market fit and eliminates inventory bias needs.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404872"/>
            <a:ext cx="416052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404872"/>
            <a:ext cx="64008" cy="10789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919472" y="247802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13248" y="249631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Positive Q1 Revenue Momentum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19472" y="290779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 steady monthly upward trend across Q1 (Jan → Mar) indicates improving sales performance and signals favorable Q2 outlook.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7472" y="3639312"/>
            <a:ext cx="416052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" y="3639312"/>
            <a:ext cx="64008" cy="10789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" y="371246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373075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High-Income Segment Dominance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12064" y="414223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High-income customers generate ~54% of total profit, confirming the strategic importance of premium segment targeting and upselling.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639312"/>
            <a:ext cx="416052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639312"/>
            <a:ext cx="64008" cy="107899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2" name="Text 30"/>
          <p:cNvSpPr/>
          <p:nvPr/>
        </p:nvSpPr>
        <p:spPr>
          <a:xfrm>
            <a:off x="4919472" y="371246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13248" y="373075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Solid Customer Base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919472" y="414223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5,200 active customers provide a stable revenue foundation — average revenue per customer supports consistent ROI across marketing investments.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Strategic actions to sustain growth, optimize margins, and expand market reach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8412480" cy="640080"/>
          </a:xfrm>
          <a:prstGeom prst="rect">
            <a:avLst/>
          </a:prstGeom>
          <a:solidFill>
            <a:srgbClr val="13223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353312"/>
            <a:ext cx="64008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53619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36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◆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426464"/>
            <a:ext cx="7726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Prioritize Top Brand Marketing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00784"/>
            <a:ext cx="7726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Focus marketing investment on Apple and Dell, which drive the highest profit contribution. Explore premium positioning and exclusive promotions.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03120"/>
            <a:ext cx="8412480" cy="640080"/>
          </a:xfrm>
          <a:prstGeom prst="rect">
            <a:avLst/>
          </a:prstGeom>
          <a:solidFill>
            <a:srgbClr val="132236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2103120"/>
            <a:ext cx="64008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▲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176272"/>
            <a:ext cx="7726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Develop Premium Offers for High-Income Customers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450592"/>
            <a:ext cx="7726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Build upsell pathways and loyalty programmes for high-income customers who generate ~54% of total profit.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852928"/>
            <a:ext cx="8412480" cy="640080"/>
          </a:xfrm>
          <a:prstGeom prst="rect">
            <a:avLst/>
          </a:prstGeom>
          <a:solidFill>
            <a:srgbClr val="132236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2852928"/>
            <a:ext cx="64008" cy="6400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3035808"/>
            <a:ext cx="274320" cy="2743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035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●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2926080"/>
            <a:ext cx="7726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</a:rPr>
              <a:t>Maintain Balanced Color Inventory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200400"/>
            <a:ext cx="7726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Since all three colors perform equally, maintain even inventory allocation. Avoid over-investing in any single color variant.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602736"/>
            <a:ext cx="8412480" cy="640080"/>
          </a:xfrm>
          <a:prstGeom prst="rect">
            <a:avLst/>
          </a:prstGeom>
          <a:solidFill>
            <a:srgbClr val="132236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" y="3602736"/>
            <a:ext cx="64008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" y="3785616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7856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◆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3675888"/>
            <a:ext cx="7726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Investigate Cost Optimization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3950208"/>
            <a:ext cx="7726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Current COGS at ₦2M against ₦3M revenue leaves a 31% margin. Supply chain review and vendor negotiation could push margin above 35%.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352544"/>
            <a:ext cx="8412480" cy="640080"/>
          </a:xfrm>
          <a:prstGeom prst="rect">
            <a:avLst/>
          </a:prstGeom>
          <a:solidFill>
            <a:srgbClr val="132236"/>
          </a:solidFill>
          <a:ln/>
        </p:spPr>
      </p:sp>
      <p:sp>
        <p:nvSpPr>
          <p:cNvPr id="30" name="Shape 28"/>
          <p:cNvSpPr/>
          <p:nvPr/>
        </p:nvSpPr>
        <p:spPr>
          <a:xfrm>
            <a:off x="365760" y="4352544"/>
            <a:ext cx="64008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1" name="Shape 29"/>
          <p:cNvSpPr/>
          <p:nvPr/>
        </p:nvSpPr>
        <p:spPr>
          <a:xfrm>
            <a:off x="502920" y="4535424"/>
            <a:ext cx="274320" cy="27432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45354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▲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14400" y="4425696"/>
            <a:ext cx="7726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Expand in Highest-Performing Region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4700016"/>
            <a:ext cx="7726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Channel increased resources into the East region which leads in revenue. Apply learnings to uplift performance in the West.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Skills Demonstrated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170432"/>
            <a:ext cx="269748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70432"/>
            <a:ext cx="2697480" cy="5029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Shape 5"/>
          <p:cNvSpPr/>
          <p:nvPr/>
        </p:nvSpPr>
        <p:spPr>
          <a:xfrm>
            <a:off x="1353312" y="1261872"/>
            <a:ext cx="320040" cy="32004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353312" y="1261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▲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Data Modeling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066544"/>
            <a:ext cx="2478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475569"/>
                </a:solidFill>
              </a:rPr>
              <a:t>Structured relational data model in Power BI with defined table relationships and optimized schema.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0" y="1170432"/>
            <a:ext cx="269748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170432"/>
            <a:ext cx="269748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7680" y="1261872"/>
            <a:ext cx="320040" cy="32004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261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01568" y="1719072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DAX Calculations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01568" y="2066544"/>
            <a:ext cx="2478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475569"/>
                </a:solidFill>
              </a:rPr>
              <a:t>Custom DAX measures: Total Sales, Total COGS, Total Profit, Profit Margin %, Customer Count.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36208" y="1170432"/>
            <a:ext cx="269748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36208" y="1170432"/>
            <a:ext cx="269748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Shape 17"/>
          <p:cNvSpPr/>
          <p:nvPr/>
        </p:nvSpPr>
        <p:spPr>
          <a:xfrm>
            <a:off x="7242048" y="1261872"/>
            <a:ext cx="320040" cy="32004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242048" y="1261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●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45936" y="1719072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KPI Cards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45936" y="2066544"/>
            <a:ext cx="2478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475569"/>
                </a:solidFill>
              </a:rPr>
              <a:t>Dynamic KPI cards displaying real-time metrics — Sales, COGS, Profit, Customers — responsive to filters.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" y="2926080"/>
            <a:ext cx="269748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7472" y="2926080"/>
            <a:ext cx="269748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53312" y="3017520"/>
            <a:ext cx="320040" cy="32004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353312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474720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Interactive Slicers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3822192"/>
            <a:ext cx="2478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475569"/>
                </a:solidFill>
              </a:rPr>
              <a:t>Region (East/North/South/West) and Gender (Male/Female) slicers enabling dynamic dashboard segmentation.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91840" y="2926080"/>
            <a:ext cx="269748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0" y="2926080"/>
            <a:ext cx="269748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Shape 29"/>
          <p:cNvSpPr/>
          <p:nvPr/>
        </p:nvSpPr>
        <p:spPr>
          <a:xfrm>
            <a:off x="4297680" y="3017520"/>
            <a:ext cx="320040" cy="32004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29768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▲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01568" y="3474720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Comparative Charts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401568" y="3822192"/>
            <a:ext cx="2478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475569"/>
                </a:solidFill>
              </a:rPr>
              <a:t>Horizontal bar charts for brand profit comparison; donut chart for color revenue distribution by percentage.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36208" y="2926080"/>
            <a:ext cx="269748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36208" y="2926080"/>
            <a:ext cx="269748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7" name="Shape 35"/>
          <p:cNvSpPr/>
          <p:nvPr/>
        </p:nvSpPr>
        <p:spPr>
          <a:xfrm>
            <a:off x="7242048" y="3017520"/>
            <a:ext cx="320040" cy="32004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242048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●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45936" y="3474720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Dashboard UX Design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345936" y="3822192"/>
            <a:ext cx="2478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475569"/>
                </a:solidFill>
              </a:rPr>
              <a:t>Cohesive layout design with consistent color coding, clear visual hierarchy, and intuitive slicer placement.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132236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47472"/>
            <a:ext cx="1645920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3474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POWER BI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987552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Performance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242316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7C7B"/>
                </a:solidFill>
              </a:rPr>
              <a:t>Capstone Project — Summary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846320" cy="54864"/>
          </a:xfrm>
          <a:prstGeom prst="rect">
            <a:avLst/>
          </a:prstGeom>
          <a:solidFill>
            <a:srgbClr val="F59E0B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999232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This dashboard delivers end-to-end visibility into brand profitability, color revenue distribution, customer segmentation, and Q1 sales trends — enabling data-driven decisions across marketing, supply chain, and customer strategy.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4370832"/>
            <a:ext cx="4846320" cy="594360"/>
          </a:xfrm>
          <a:prstGeom prst="rect">
            <a:avLst/>
          </a:prstGeom>
          <a:solidFill>
            <a:srgbClr val="0E7C7B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4434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000" dirty="0">
                <a:solidFill>
                  <a:srgbClr val="0E7C7B"/>
                </a:solidFill>
              </a:rPr>
              <a:t>Analyst: Faith Olayiwola |  Tool: Excel, Power BI , PowerPoint Presentation |  Period: Q1 2024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0" y="45720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Final Scorecard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50992" y="960120"/>
            <a:ext cx="1508760" cy="1097280"/>
          </a:xfrm>
          <a:prstGeom prst="rect">
            <a:avLst/>
          </a:prstGeom>
          <a:solidFill>
            <a:srgbClr val="1A2E40"/>
          </a:solidFill>
          <a:ln/>
        </p:spPr>
      </p:sp>
      <p:sp>
        <p:nvSpPr>
          <p:cNvPr id="14" name="Shape 12"/>
          <p:cNvSpPr/>
          <p:nvPr/>
        </p:nvSpPr>
        <p:spPr>
          <a:xfrm>
            <a:off x="5650992" y="960120"/>
            <a:ext cx="1508760" cy="5486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5" name="Text 13"/>
          <p:cNvSpPr/>
          <p:nvPr/>
        </p:nvSpPr>
        <p:spPr>
          <a:xfrm>
            <a:off x="5650992" y="105156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₦3M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650992" y="1673352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Total Revenue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42632" y="960120"/>
            <a:ext cx="1508760" cy="1097280"/>
          </a:xfrm>
          <a:prstGeom prst="rect">
            <a:avLst/>
          </a:prstGeom>
          <a:solidFill>
            <a:srgbClr val="1A2E40"/>
          </a:solidFill>
          <a:ln/>
        </p:spPr>
      </p:sp>
      <p:sp>
        <p:nvSpPr>
          <p:cNvPr id="18" name="Shape 16"/>
          <p:cNvSpPr/>
          <p:nvPr/>
        </p:nvSpPr>
        <p:spPr>
          <a:xfrm>
            <a:off x="7342632" y="960120"/>
            <a:ext cx="150876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7342632" y="105156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₦932K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42632" y="1673352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Total Profit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50992" y="2240280"/>
            <a:ext cx="1508760" cy="1097280"/>
          </a:xfrm>
          <a:prstGeom prst="rect">
            <a:avLst/>
          </a:prstGeom>
          <a:solidFill>
            <a:srgbClr val="1A2E40"/>
          </a:solidFill>
          <a:ln/>
        </p:spPr>
      </p:sp>
      <p:sp>
        <p:nvSpPr>
          <p:cNvPr id="22" name="Shape 20"/>
          <p:cNvSpPr/>
          <p:nvPr/>
        </p:nvSpPr>
        <p:spPr>
          <a:xfrm>
            <a:off x="5650992" y="2240280"/>
            <a:ext cx="1508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650992" y="23317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650992" y="2953512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Profit Margin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42632" y="2240280"/>
            <a:ext cx="1508760" cy="1097280"/>
          </a:xfrm>
          <a:prstGeom prst="rect">
            <a:avLst/>
          </a:prstGeom>
          <a:solidFill>
            <a:srgbClr val="1A2E40"/>
          </a:solidFill>
          <a:ln/>
        </p:spPr>
      </p:sp>
      <p:sp>
        <p:nvSpPr>
          <p:cNvPr id="26" name="Shape 24"/>
          <p:cNvSpPr/>
          <p:nvPr/>
        </p:nvSpPr>
        <p:spPr>
          <a:xfrm>
            <a:off x="7342632" y="2240280"/>
            <a:ext cx="15087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7342632" y="23317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5,200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42632" y="2953512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Customers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50992" y="3520440"/>
            <a:ext cx="1508760" cy="1097280"/>
          </a:xfrm>
          <a:prstGeom prst="rect">
            <a:avLst/>
          </a:prstGeom>
          <a:solidFill>
            <a:srgbClr val="1A2E40"/>
          </a:solidFill>
          <a:ln/>
        </p:spPr>
      </p:sp>
      <p:sp>
        <p:nvSpPr>
          <p:cNvPr id="30" name="Shape 28"/>
          <p:cNvSpPr/>
          <p:nvPr/>
        </p:nvSpPr>
        <p:spPr>
          <a:xfrm>
            <a:off x="5650992" y="3520440"/>
            <a:ext cx="150876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1" name="Text 29"/>
          <p:cNvSpPr/>
          <p:nvPr/>
        </p:nvSpPr>
        <p:spPr>
          <a:xfrm>
            <a:off x="5650992" y="36118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Clrs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650992" y="4233672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Balanced Color Rev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42632" y="3520440"/>
            <a:ext cx="1508760" cy="1097280"/>
          </a:xfrm>
          <a:prstGeom prst="rect">
            <a:avLst/>
          </a:prstGeom>
          <a:solidFill>
            <a:srgbClr val="1A2E40"/>
          </a:solidFill>
          <a:ln/>
        </p:spPr>
      </p:sp>
      <p:sp>
        <p:nvSpPr>
          <p:cNvPr id="34" name="Shape 32"/>
          <p:cNvSpPr/>
          <p:nvPr/>
        </p:nvSpPr>
        <p:spPr>
          <a:xfrm>
            <a:off x="7342632" y="3520440"/>
            <a:ext cx="150876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" name="Text 33"/>
          <p:cNvSpPr/>
          <p:nvPr/>
        </p:nvSpPr>
        <p:spPr>
          <a:xfrm>
            <a:off x="7342632" y="36118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 ▲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342632" y="4233672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Revenue Trend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1108</Words>
  <Application>Microsoft Office PowerPoint</Application>
  <PresentationFormat>On-screen Show (16:9)</PresentationFormat>
  <Paragraphs>202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Sales Performance Dashboard – Capstone Project</dc:title>
  <dc:subject>PptxGenJS Presentation</dc:subject>
  <dc:creator>PptxGenJS</dc:creator>
  <cp:lastModifiedBy>Faith Adedolapo Olayiwola</cp:lastModifiedBy>
  <cp:revision>2</cp:revision>
  <dcterms:created xsi:type="dcterms:W3CDTF">2026-02-22T11:59:53Z</dcterms:created>
  <dcterms:modified xsi:type="dcterms:W3CDTF">2026-02-22T12:20:36Z</dcterms:modified>
</cp:coreProperties>
</file>